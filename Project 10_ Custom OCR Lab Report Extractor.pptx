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Plus Jakarta Sans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118520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1891605"/>
            <a:ext cx="1171575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67855"/>
            <a:ext cx="11430000" cy="569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 OCR Lab Report Extractor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127920"/>
            <a:ext cx="7239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medical report extraction powered by YOLO Object Detection &amp; Tesseract OCR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1948755"/>
            <a:ext cx="9620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10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62000" y="4470945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BY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4699545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Rajbir Kaur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810500" y="4470945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TO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810500" y="4699545"/>
            <a:ext cx="13335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Nexthikes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762000" y="2938462"/>
            <a:ext cx="335280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419600" y="2938462"/>
            <a:ext cx="335280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077200" y="2938462"/>
            <a:ext cx="335280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325" y="3300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3925" y="330041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330041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the gap between unstructured medical documents and structured clinical insights.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76325" y="3786187"/>
            <a:ext cx="35754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76325" y="4100512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transcription of lab reports is slow, labor-intensive, and prone to error.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733925" y="3786187"/>
            <a:ext cx="35754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733925" y="4100512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automated OCR and YOLO-driven pipeline extracting test values and flags.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391525" y="3786187"/>
            <a:ext cx="35754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Impact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91525" y="4100512"/>
            <a:ext cx="2819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Instantaneous results presentation with interactive data tables and JSON inspection.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762000" y="2428875"/>
            <a:ext cx="95250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762000" y="3552825"/>
            <a:ext cx="95250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62000" y="4676775"/>
            <a:ext cx="95250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762000" y="33528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62000" y="24288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62000" y="2428875"/>
            <a:ext cx="57150" cy="933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0277475" y="2428875"/>
            <a:ext cx="9525" cy="93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62000" y="447675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62000" y="355282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762000" y="3552825"/>
            <a:ext cx="57150" cy="933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10277475" y="3552825"/>
            <a:ext cx="9525" cy="93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762000" y="5600700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62000" y="4676775"/>
            <a:ext cx="9525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62000" y="4676775"/>
            <a:ext cx="57150" cy="9334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0277475" y="4676775"/>
            <a:ext cx="9525" cy="9334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3950" y="2776537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3950" y="39004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3950" y="502443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automated clinical report extraction is essential in modern healthcare.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552575" y="2667000"/>
            <a:ext cx="813851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Unstructured Data Formats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552575" y="2924175"/>
            <a:ext cx="775096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Medical reports arrive in diverse image layouts and scanned formats with varying fonts.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619250" y="3790950"/>
            <a:ext cx="842605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of Human Error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619250" y="4048125"/>
            <a:ext cx="80248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Manual data entry by technicians can lead to misinterpretation of crucial biomarker levels.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619250" y="4914900"/>
            <a:ext cx="836354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 Efficiency Bottlenecks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619250" y="5172075"/>
            <a:ext cx="796528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Delays in reviewing diagnostic reports hinder prompt patient consultation and diagnosis.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762000" y="3005137"/>
            <a:ext cx="3403550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4394150" y="2890837"/>
            <a:ext cx="3403550" cy="2257425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8026300" y="2890837"/>
            <a:ext cx="3403550" cy="2257425"/>
          </a:xfrm>
          <a:prstGeom prst="roundRect">
            <a:avLst>
              <a:gd name="adj" fmla="val 675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1038225" y="331946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4670375" y="320516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302525" y="320516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Objectives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goals established for building the OCR lab report system.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95350" y="3319462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1038225" y="3967162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Region Localization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1038225" y="4262437"/>
            <a:ext cx="29463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 and crop key report sections using YOLO object detection models.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527500" y="3205162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670375" y="3852862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Accurate Text Extraction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4670375" y="4148137"/>
            <a:ext cx="29463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Leverage Tesseract OCR and OpenCV preprocessing for clean character reading.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8159650" y="3205162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302525" y="3852862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Dashboard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8302525" y="4148137"/>
            <a:ext cx="29463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an intuitive web interface via Streamlit for seamless document upload.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/>
          <p:nvPr/>
        </p:nvSpPr>
        <p:spPr>
          <a:xfrm>
            <a:off x="762000" y="2390775"/>
            <a:ext cx="34290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4381500" y="2390775"/>
            <a:ext cx="34290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001000" y="2390775"/>
            <a:ext cx="34290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762000" y="4076700"/>
            <a:ext cx="34290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381500" y="4076700"/>
            <a:ext cx="34290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001000" y="4076700"/>
            <a:ext cx="3429000" cy="1495425"/>
          </a:xfrm>
          <a:prstGeom prst="roundRect">
            <a:avLst>
              <a:gd name="adj" fmla="val 76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26670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19625" y="26670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39125" y="26670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43529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9625" y="43529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39125" y="43529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 &amp; Environment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libraries and tools powering the solution.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000125" y="302895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00125" y="3286125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Primary programming language for logic and OCR execution.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4619625" y="302895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4619625" y="3286125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web framework for UI design and cloud deployment.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239125" y="3028950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OpenCV &amp; Tesseract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239125" y="3286125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vision image processing and optical character recognition.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000125" y="47148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&amp; NumPy</a:t>
            </a:r>
            <a:endParaRPr/>
          </a:p>
        </p:txBody>
      </p:sp>
      <p:sp>
        <p:nvSpPr>
          <p:cNvPr id="188" name="Google Shape;188;p17"/>
          <p:cNvSpPr txBox="1"/>
          <p:nvPr/>
        </p:nvSpPr>
        <p:spPr>
          <a:xfrm>
            <a:off x="1000125" y="4972050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manipulation and array management for extracted tabular metrics.</a:t>
            </a:r>
            <a:endParaRPr/>
          </a:p>
        </p:txBody>
      </p:sp>
      <p:sp>
        <p:nvSpPr>
          <p:cNvPr id="189" name="Google Shape;189;p17"/>
          <p:cNvSpPr txBox="1"/>
          <p:nvPr/>
        </p:nvSpPr>
        <p:spPr>
          <a:xfrm>
            <a:off x="4619625" y="47148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Pillow (PIL)</a:t>
            </a: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4619625" y="4972050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handling and format conversion between frontend and backend.</a:t>
            </a:r>
            <a:endParaRPr/>
          </a:p>
        </p:txBody>
      </p:sp>
      <p:sp>
        <p:nvSpPr>
          <p:cNvPr id="191" name="Google Shape;191;p17"/>
          <p:cNvSpPr txBox="1"/>
          <p:nvPr/>
        </p:nvSpPr>
        <p:spPr>
          <a:xfrm>
            <a:off x="8239125" y="4714875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&amp; Streamlit Cloud</a:t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8239125" y="4972050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 control and live hosting environment for accessibility.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/>
          <p:nvPr/>
        </p:nvSpPr>
        <p:spPr>
          <a:xfrm>
            <a:off x="762000" y="3219450"/>
            <a:ext cx="2288381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3555206" y="3219450"/>
            <a:ext cx="2288381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6348412" y="3219450"/>
            <a:ext cx="2288381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9141618" y="3219450"/>
            <a:ext cx="2288381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2781" y="39147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95987" y="39147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89193" y="39147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6178" y="3543300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6046" y="35433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73540" y="35433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133409" y="35433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 &amp; Workflow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Sequential processing steps from raw document upload to final structured display.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66973" y="3943350"/>
            <a:ext cx="24784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File Upload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725983" y="4200525"/>
            <a:ext cx="23604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User uploads lab report via Streamlit sidebar.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3460179" y="3943350"/>
            <a:ext cx="24784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YOLO Detection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3519189" y="4200525"/>
            <a:ext cx="23604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Object detection localizes regions of interest.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6253385" y="3943350"/>
            <a:ext cx="24784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Tesseract OCR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6312396" y="4200525"/>
            <a:ext cx="23604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Extracts textual data and clinical metrics.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9046591" y="3943350"/>
            <a:ext cx="24784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Dashboard View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9105602" y="4200525"/>
            <a:ext cx="2360414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Displays summary metrics, tables, and JSON.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"/>
          <p:cNvSpPr/>
          <p:nvPr/>
        </p:nvSpPr>
        <p:spPr>
          <a:xfrm>
            <a:off x="762000" y="3098452"/>
            <a:ext cx="5181600" cy="1842045"/>
          </a:xfrm>
          <a:prstGeom prst="roundRect">
            <a:avLst>
              <a:gd name="adj" fmla="val 827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6248400" y="3098452"/>
            <a:ext cx="5181600" cy="1842045"/>
          </a:xfrm>
          <a:prstGeom prst="roundRect">
            <a:avLst>
              <a:gd name="adj" fmla="val 827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3000375" y="4399508"/>
            <a:ext cx="1394668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8772525" y="3850927"/>
            <a:ext cx="594568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1: Application Setup &amp; Configuration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Initializing project structure and dependency management.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1076325" y="3412777"/>
            <a:ext cx="59757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 Prep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6562725" y="3412777"/>
            <a:ext cx="5629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Architecture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1076325" y="3803302"/>
            <a:ext cx="56911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Configured virtual environment with Python 3.10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1076325" y="4077592"/>
            <a:ext cx="56911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Installed Tesseract-OCR binary dependencies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1076325" y="4351883"/>
            <a:ext cx="56911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Managed packages via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6562725" y="3803302"/>
            <a:ext cx="5629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Created modular structure ()</a:t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6562725" y="4077592"/>
            <a:ext cx="5629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Integrated custom wide-layout page configurations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6562725" y="4351883"/>
            <a:ext cx="5629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Established caching layers for OCR loading speed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3000375" y="4338335"/>
            <a:ext cx="162903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requirements.txt</a:t>
            </a:r>
            <a:endParaRPr dirty="0"/>
          </a:p>
        </p:txBody>
      </p:sp>
      <p:sp>
        <p:nvSpPr>
          <p:cNvPr id="237" name="Google Shape;237;p19"/>
          <p:cNvSpPr txBox="1"/>
          <p:nvPr/>
        </p:nvSpPr>
        <p:spPr>
          <a:xfrm>
            <a:off x="8829675" y="3869977"/>
            <a:ext cx="766018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app.py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762000" y="3148012"/>
            <a:ext cx="340355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394150" y="3148012"/>
            <a:ext cx="3403550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8026300" y="3148012"/>
            <a:ext cx="3403699" cy="1743075"/>
          </a:xfrm>
          <a:prstGeom prst="roundRect">
            <a:avLst>
              <a:gd name="adj" fmla="val 874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1300" y="34718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451" y="34718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75750" y="34718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0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2: Document Preprocessing Pipeline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Optimizing document images for higher OCR recognition accuracy.</a:t>
            </a:r>
            <a:endParaRPr/>
          </a:p>
        </p:txBody>
      </p:sp>
      <p:sp>
        <p:nvSpPr>
          <p:cNvPr id="250" name="Google Shape;250;p20"/>
          <p:cNvSpPr txBox="1"/>
          <p:nvPr/>
        </p:nvSpPr>
        <p:spPr>
          <a:xfrm>
            <a:off x="592740" y="3957637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Grayscale Conversion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681837" y="4252912"/>
            <a:ext cx="35638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Eliminates background color noise and artifacts.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4224890" y="3957637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Adaptive Thresholding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4313987" y="4252912"/>
            <a:ext cx="356387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Binarizes image into crisp black and white pixels.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7857018" y="3957637"/>
            <a:ext cx="374226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Noise Reduction</a:t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7946119" y="4252912"/>
            <a:ext cx="356406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Denoising filters prevent character distortion.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/>
          <p:nvPr/>
        </p:nvSpPr>
        <p:spPr>
          <a:xfrm>
            <a:off x="762000" y="3300412"/>
            <a:ext cx="5181600" cy="1438275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6248400" y="3300412"/>
            <a:ext cx="5181600" cy="1438275"/>
          </a:xfrm>
          <a:prstGeom prst="roundRect">
            <a:avLst>
              <a:gd name="adj" fmla="val 1059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3: OCR Execution &amp; Structured Parsing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Converting raw pixels into clean, structured clinical key-value pairs.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1076325" y="3614737"/>
            <a:ext cx="597574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Tesseract Extraction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076325" y="396716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Performs optical character extraction across bounding boxes, converting raw printed text into string streams.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6562725" y="3614737"/>
            <a:ext cx="56292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Regex &amp; Entity Matching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6562725" y="3967162"/>
            <a:ext cx="4648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Parses patient demographics, test names, biological reference ranges, and abnormal result flags.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2"/>
          <p:cNvSpPr/>
          <p:nvPr/>
        </p:nvSpPr>
        <p:spPr>
          <a:xfrm>
            <a:off x="762000" y="3190875"/>
            <a:ext cx="340355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4394150" y="3190875"/>
            <a:ext cx="340355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8026300" y="3190875"/>
            <a:ext cx="3403550" cy="1657350"/>
          </a:xfrm>
          <a:prstGeom prst="roundRect">
            <a:avLst>
              <a:gd name="adj" fmla="val 919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225" y="351472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70375" y="351472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02525" y="3514725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4: Streamlit UI Implementation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Designing a user-friendly diagnostic report inspection platform.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1038225" y="3914775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File Upload Panel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1038225" y="4210050"/>
            <a:ext cx="2946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Supports PNG, JPG, and JPEG report documents.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4670375" y="3914775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 Preview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4670375" y="4210050"/>
            <a:ext cx="2946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image rendering side-by-side with parsed findings.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8302525" y="3914775"/>
            <a:ext cx="3742069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Multi-View Results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8302525" y="4210050"/>
            <a:ext cx="2946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Offers visual metrics, pandas data tables, and JSON export.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/>
          <p:nvPr/>
        </p:nvSpPr>
        <p:spPr>
          <a:xfrm>
            <a:off x="762000" y="2214562"/>
            <a:ext cx="5219700" cy="1266825"/>
          </a:xfrm>
          <a:prstGeom prst="roundRect">
            <a:avLst>
              <a:gd name="adj" fmla="val 1203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6210300" y="2214562"/>
            <a:ext cx="5219700" cy="1266825"/>
          </a:xfrm>
          <a:prstGeom prst="roundRect">
            <a:avLst>
              <a:gd name="adj" fmla="val 1203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762000" y="4657725"/>
            <a:ext cx="5219700" cy="1066800"/>
          </a:xfrm>
          <a:prstGeom prst="roundRect">
            <a:avLst>
              <a:gd name="adj" fmla="val 14285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6210300" y="4557712"/>
            <a:ext cx="5219700" cy="1266825"/>
          </a:xfrm>
          <a:prstGeom prst="roundRect">
            <a:avLst>
              <a:gd name="adj" fmla="val 1203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8225" y="25288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6525" y="252888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8225" y="497205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6525" y="487203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Features &amp; Capabilities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functional capabilities built into the live platform.</a:t>
            </a:r>
            <a:endParaRPr/>
          </a:p>
        </p:txBody>
      </p:sp>
      <p:sp>
        <p:nvSpPr>
          <p:cNvPr id="300" name="Google Shape;300;p23"/>
          <p:cNvSpPr txBox="1"/>
          <p:nvPr/>
        </p:nvSpPr>
        <p:spPr>
          <a:xfrm>
            <a:off x="1038225" y="2490787"/>
            <a:ext cx="612576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Patient Data Parsing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038225" y="2805112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Extracts patient name, age, gender, and lab report ID automatically.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6486525" y="2490787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 Summary Cards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6486525" y="2805112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Displays quick summary metrics for total tests, normal values, and critical flags.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1038225" y="4933950"/>
            <a:ext cx="612576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Table Inspection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038225" y="5248275"/>
            <a:ext cx="583406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Presents structured lab values with standard reference ranges.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486525" y="4833937"/>
            <a:ext cx="57054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JSON &amp; Export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6486525" y="5148262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Allows easy copying and downloading of parsed JSON objects for database integration.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"/>
          <p:cNvSpPr/>
          <p:nvPr/>
        </p:nvSpPr>
        <p:spPr>
          <a:xfrm>
            <a:off x="2895600" y="4067175"/>
            <a:ext cx="6400800" cy="638175"/>
          </a:xfrm>
          <a:prstGeom prst="roundRect">
            <a:avLst>
              <a:gd name="adj" fmla="val 17910"/>
            </a:avLst>
          </a:prstGeom>
          <a:solidFill>
            <a:srgbClr val="F1F5F9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17526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4550" y="196215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2964358" y="2743200"/>
            <a:ext cx="6263282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Project Web Application</a:t>
            </a:r>
            <a:endParaRPr/>
          </a:p>
        </p:txBody>
      </p:sp>
      <p:sp>
        <p:nvSpPr>
          <p:cNvPr id="316" name="Google Shape;316;p24"/>
          <p:cNvSpPr txBox="1"/>
          <p:nvPr/>
        </p:nvSpPr>
        <p:spPr>
          <a:xfrm>
            <a:off x="2524125" y="3286125"/>
            <a:ext cx="71437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Experience the custom OCR lab report extraction pipeline live on Streamlit Cloud.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2438400" y="4257675"/>
            <a:ext cx="73152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https://project-10-hyuqxswfk9i6udukrekncc.streamlit.app/ </a:t>
            </a:r>
            <a:endParaRPr dirty="0"/>
          </a:p>
        </p:txBody>
      </p:sp>
      <p:sp>
        <p:nvSpPr>
          <p:cNvPr id="318" name="Google Shape;318;p24"/>
          <p:cNvSpPr txBox="1"/>
          <p:nvPr/>
        </p:nvSpPr>
        <p:spPr>
          <a:xfrm>
            <a:off x="3434953" y="4933950"/>
            <a:ext cx="532209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Click the link above to test live medical report uploads and extraction.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/>
          <p:nvPr/>
        </p:nvSpPr>
        <p:spPr>
          <a:xfrm>
            <a:off x="762000" y="2938462"/>
            <a:ext cx="340355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4394150" y="2938462"/>
            <a:ext cx="340355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8026300" y="2938462"/>
            <a:ext cx="3403550" cy="2162175"/>
          </a:xfrm>
          <a:prstGeom prst="roundRect">
            <a:avLst>
              <a:gd name="adj" fmla="val 704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6325" y="330041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8475" y="330041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40625" y="330041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5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Scope &amp; Enhancements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Potential roadmap for expanding capabilities.</a:t>
            </a:r>
            <a:endParaRPr/>
          </a:p>
        </p:txBody>
      </p:sp>
      <p:sp>
        <p:nvSpPr>
          <p:cNvPr id="331" name="Google Shape;331;p25"/>
          <p:cNvSpPr txBox="1"/>
          <p:nvPr/>
        </p:nvSpPr>
        <p:spPr>
          <a:xfrm>
            <a:off x="1076325" y="3786187"/>
            <a:ext cx="36420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Integration</a:t>
            </a:r>
            <a:endParaRPr/>
          </a:p>
        </p:txBody>
      </p:sp>
      <p:sp>
        <p:nvSpPr>
          <p:cNvPr id="332" name="Google Shape;332;p25"/>
          <p:cNvSpPr txBox="1"/>
          <p:nvPr/>
        </p:nvSpPr>
        <p:spPr>
          <a:xfrm>
            <a:off x="1076325" y="4100512"/>
            <a:ext cx="2870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Incorporate GPT-4 vision or specialized medical LLMs for diagnostic interpretation.</a:t>
            </a:r>
            <a:endParaRPr/>
          </a:p>
        </p:txBody>
      </p:sp>
      <p:sp>
        <p:nvSpPr>
          <p:cNvPr id="333" name="Google Shape;333;p25"/>
          <p:cNvSpPr txBox="1"/>
          <p:nvPr/>
        </p:nvSpPr>
        <p:spPr>
          <a:xfrm>
            <a:off x="4708475" y="3786187"/>
            <a:ext cx="36420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EHR Database Sync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4708475" y="4100512"/>
            <a:ext cx="2870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integration with electronic health record (EHR) systems via FHIR APIs.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8340625" y="3786187"/>
            <a:ext cx="36420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Multi-Language Support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8340625" y="4100512"/>
            <a:ext cx="28701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Extend OCR models to recognize multi-lingual medical documents across regions.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/>
          <p:nvPr/>
        </p:nvSpPr>
        <p:spPr>
          <a:xfrm>
            <a:off x="762000" y="2247900"/>
            <a:ext cx="106680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762000" y="3171825"/>
            <a:ext cx="106680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62000" y="4095750"/>
            <a:ext cx="106680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62000" y="5019675"/>
            <a:ext cx="106680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25527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34766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44005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0125" y="53244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762000" y="609600"/>
            <a:ext cx="114300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References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762000" y="1114425"/>
            <a:ext cx="114300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technologies, documentation, and frameworks utilized.</a:t>
            </a:r>
            <a:endParaRPr/>
          </a:p>
        </p:txBody>
      </p:sp>
      <p:sp>
        <p:nvSpPr>
          <p:cNvPr id="351" name="Google Shape;351;p26"/>
          <p:cNvSpPr txBox="1"/>
          <p:nvPr/>
        </p:nvSpPr>
        <p:spPr>
          <a:xfrm>
            <a:off x="1323975" y="2447925"/>
            <a:ext cx="2286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Documentation</a:t>
            </a:r>
            <a:endParaRPr/>
          </a:p>
        </p:txBody>
      </p:sp>
      <p:sp>
        <p:nvSpPr>
          <p:cNvPr id="352" name="Google Shape;352;p26"/>
          <p:cNvSpPr txBox="1"/>
          <p:nvPr/>
        </p:nvSpPr>
        <p:spPr>
          <a:xfrm>
            <a:off x="1323975" y="26479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https://docs.streamlit.io/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1323975" y="3371850"/>
            <a:ext cx="47982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Tesseract OCR Documentation &amp; PyTesseract Engine</a:t>
            </a:r>
            <a:endParaRPr/>
          </a:p>
        </p:txBody>
      </p:sp>
      <p:sp>
        <p:nvSpPr>
          <p:cNvPr id="354" name="Google Shape;354;p26"/>
          <p:cNvSpPr txBox="1"/>
          <p:nvPr/>
        </p:nvSpPr>
        <p:spPr>
          <a:xfrm>
            <a:off x="1323975" y="3571875"/>
            <a:ext cx="479821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https://github.com/tesseract-ocr/tesseract</a:t>
            </a:r>
            <a:endParaRPr/>
          </a:p>
        </p:txBody>
      </p:sp>
      <p:sp>
        <p:nvSpPr>
          <p:cNvPr id="355" name="Google Shape;355;p26"/>
          <p:cNvSpPr txBox="1"/>
          <p:nvPr/>
        </p:nvSpPr>
        <p:spPr>
          <a:xfrm>
            <a:off x="1323975" y="4295775"/>
            <a:ext cx="4429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OpenCV (Open Source Computer Vision Library)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1323975" y="4495800"/>
            <a:ext cx="44291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https://docs.opencv.org/</a:t>
            </a:r>
            <a:endParaRPr/>
          </a:p>
        </p:txBody>
      </p:sp>
      <p:sp>
        <p:nvSpPr>
          <p:cNvPr id="357" name="Google Shape;357;p26"/>
          <p:cNvSpPr txBox="1"/>
          <p:nvPr/>
        </p:nvSpPr>
        <p:spPr>
          <a:xfrm>
            <a:off x="1323975" y="5219700"/>
            <a:ext cx="4238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Ultralytics YOLO Object Detection Framework</a:t>
            </a:r>
            <a:endParaRPr/>
          </a:p>
        </p:txBody>
      </p:sp>
      <p:sp>
        <p:nvSpPr>
          <p:cNvPr id="358" name="Google Shape;358;p26"/>
          <p:cNvSpPr txBox="1"/>
          <p:nvPr/>
        </p:nvSpPr>
        <p:spPr>
          <a:xfrm>
            <a:off x="1323975" y="5419725"/>
            <a:ext cx="423862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https://docs.ultralytics.com/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/>
          <p:nvPr/>
        </p:nvSpPr>
        <p:spPr>
          <a:xfrm>
            <a:off x="5810250" y="462438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0" y="219551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4550" y="24050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7"/>
          <p:cNvSpPr txBox="1"/>
          <p:nvPr/>
        </p:nvSpPr>
        <p:spPr>
          <a:xfrm>
            <a:off x="4220765" y="3186112"/>
            <a:ext cx="3750468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367" name="Google Shape;367;p27"/>
          <p:cNvSpPr txBox="1"/>
          <p:nvPr/>
        </p:nvSpPr>
        <p:spPr>
          <a:xfrm>
            <a:off x="4780359" y="4005262"/>
            <a:ext cx="26312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Microsoft Office PowerPoint</Application>
  <PresentationFormat>Widescreen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HUT2099</cp:lastModifiedBy>
  <cp:revision>1</cp:revision>
  <dcterms:modified xsi:type="dcterms:W3CDTF">2026-10-15T11:54:46Z</dcterms:modified>
</cp:coreProperties>
</file>